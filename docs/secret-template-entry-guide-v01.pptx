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9384FD-3322-4C08-AEF4-84524DCF91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92F1CD-AB1A-4F69-A887-C4A7523E0A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420BBB-EB6A-48A1-B9F8-3C8C378483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5F329E-997E-4167-B8D9-31A67EBA13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E87C06-906D-419E-B6F6-63AF0D5350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7B5C3F-7A50-4434-AA87-261DBDE152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C1C352-49EF-4DFD-AA0A-8BF3B2EFAA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6CA587-D906-48C5-90F8-56AF90B7CF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D7DCC5-59DA-4F77-B389-5376F8A69F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4E877D-49BE-44CA-AB1E-09C2D40126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256F70-745F-49F3-9DFE-2EE016F219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54720"/>
            <a:ext cx="12191400" cy="2700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38840" y="219600"/>
            <a:ext cx="114296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Secret Template Entry Guide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457200" y="1097280"/>
            <a:ext cx="1133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Modern theme • Verified vs live Varlock mapping • Proton Pass + Varlock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6"/>
          <p:cNvSpPr/>
          <p:nvPr/>
        </p:nvSpPr>
        <p:spPr>
          <a:xfrm>
            <a:off x="640080" y="1508760"/>
            <a:ext cx="10972440" cy="4983120"/>
          </a:xfrm>
          <a:prstGeom prst="roundRect">
            <a:avLst>
              <a:gd name="adj" fmla="val 16667"/>
            </a:avLst>
          </a:prstGeom>
          <a:solidFill>
            <a:srgbClr val="151f36"/>
          </a:solidFill>
          <a:ln w="1714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acc15"/>
                </a:solidFill>
                <a:effectLst/>
                <a:uFillTx/>
                <a:latin typeface="Calibri"/>
              </a:rPr>
              <a:t>What this deck covers: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➜ Exact naming format for Proton Pass items</a:t>
            </a:r>
            <a:endParaRPr lang="en-GB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➜ Exact field to store secret values (password)</a:t>
            </a:r>
            <a:endParaRPr lang="en-GB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➜ Exact Varlock pass:// mapping pattern</a:t>
            </a:r>
            <a:endParaRPr lang="en-GB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➜ Validation + rotation workflow</a:t>
            </a:r>
            <a:endParaRPr lang="en-GB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0" y="54720"/>
            <a:ext cx="12191400" cy="2700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438840" y="219600"/>
            <a:ext cx="114296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Step 1 — Name each secret item correctly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5"/>
          <p:cNvSpPr/>
          <p:nvPr/>
        </p:nvSpPr>
        <p:spPr>
          <a:xfrm>
            <a:off x="640080" y="1417320"/>
            <a:ext cx="5394600" cy="2148480"/>
          </a:xfrm>
          <a:prstGeom prst="roundRect">
            <a:avLst>
              <a:gd name="adj" fmla="val 16667"/>
            </a:avLst>
          </a:prstGeom>
          <a:solidFill>
            <a:srgbClr val="151f36"/>
          </a:solidFill>
          <a:ln w="17145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Shared format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ERA_&lt;SECRET_NAME&gt;</a:t>
            </a:r>
            <a:endParaRPr lang="en-GB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Example: ERA_OPENROUTER_API_KEY</a:t>
            </a:r>
            <a:endParaRPr lang="en-GB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6355080" y="1417320"/>
            <a:ext cx="5303160" cy="2148480"/>
          </a:xfrm>
          <a:prstGeom prst="roundRect">
            <a:avLst>
              <a:gd name="adj" fmla="val 16667"/>
            </a:avLst>
          </a:prstGeom>
          <a:solidFill>
            <a:srgbClr val="1c2844"/>
          </a:solidFill>
          <a:ln w="17145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System format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ERA_&lt;SYSTEM&gt;_&lt;SECRET_NAME&gt;</a:t>
            </a:r>
            <a:endParaRPr lang="en-GB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Example: ERA_SIM_POSTGRES_PASSWORD</a:t>
            </a:r>
            <a:endParaRPr lang="en-GB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7"/>
          <p:cNvSpPr/>
          <p:nvPr/>
        </p:nvSpPr>
        <p:spPr>
          <a:xfrm>
            <a:off x="640080" y="3794760"/>
            <a:ext cx="11018160" cy="2605680"/>
          </a:xfrm>
          <a:prstGeom prst="roundRect">
            <a:avLst>
              <a:gd name="adj" fmla="val 16667"/>
            </a:avLst>
          </a:prstGeom>
          <a:solidFill>
            <a:srgbClr val="151f36"/>
          </a:solidFill>
          <a:ln w="17145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Choose format by scope:</a:t>
            </a: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• Shared provider keys → ERA_&lt;SECRET_NAME&gt;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• System-specific keys (sim, etc.) → ERA_&lt;SYSTEM&gt;_&lt;SECRET_NAME&gt;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• Keep titles UPPERCASE and underscore-delimited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0" y="54720"/>
            <a:ext cx="12191400" cy="2700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438840" y="219600"/>
            <a:ext cx="114296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Step 2 — Enter values in Proton Pass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457200" y="1325880"/>
            <a:ext cx="5851800" cy="5440320"/>
          </a:xfrm>
          <a:prstGeom prst="roundRect">
            <a:avLst>
              <a:gd name="adj" fmla="val 16667"/>
            </a:avLst>
          </a:prstGeom>
          <a:solidFill>
            <a:srgbClr val="151f36"/>
          </a:solidFill>
          <a:ln w="17145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Proton Pass item fields:</a:t>
            </a:r>
            <a:endParaRPr lang="en-GB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• Vault: Login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• Item type: Login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• Title: exact mapped item title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• Password field: actual secret value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• Username: varlock (optional)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• Notes: metadata block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6"/>
          <p:cNvSpPr/>
          <p:nvPr/>
        </p:nvSpPr>
        <p:spPr>
          <a:xfrm>
            <a:off x="6446520" y="1325880"/>
            <a:ext cx="5257440" cy="5440320"/>
          </a:xfrm>
          <a:prstGeom prst="roundRect">
            <a:avLst>
              <a:gd name="adj" fmla="val 16667"/>
            </a:avLst>
          </a:prstGeom>
          <a:solidFill>
            <a:srgbClr val="1c2844"/>
          </a:solidFill>
          <a:ln w="17145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a855f7"/>
                </a:solidFill>
                <a:effectLst/>
                <a:uFillTx/>
                <a:latin typeface="Calibri"/>
              </a:rPr>
              <a:t>Active mapped item titles: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ERA_ANTHROPIC_API_KEY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ERA_GEMINI_API_KEY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ERA_OPENROUTER_API_KEY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ERA_SIM_POSTGRES_PASSWORD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ERA_SIM_BETTER_AUTH_SECRET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ERA_SIM_ENCRYPTION_KEY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0" y="54720"/>
            <a:ext cx="12191400" cy="2700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438840" y="219600"/>
            <a:ext cx="114296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Step 3 — Add Varlock reference in .env.schema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5"/>
          <p:cNvSpPr/>
          <p:nvPr/>
        </p:nvSpPr>
        <p:spPr>
          <a:xfrm>
            <a:off x="594360" y="1417320"/>
            <a:ext cx="10972440" cy="5348880"/>
          </a:xfrm>
          <a:prstGeom prst="roundRect">
            <a:avLst>
              <a:gd name="adj" fmla="val 16667"/>
            </a:avLst>
          </a:prstGeom>
          <a:solidFill>
            <a:srgbClr val="151f36"/>
          </a:solidFill>
          <a:ln w="17145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# Exact active mappings: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ANTHROPIC_API_KEY=protonPass(pass://Login/ERA_ANTHROPIC_API_KEY/password)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GEMINI_API_KEY=protonPass(pass://Login/ERA_GEMINI_API_KEY/password)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OPENROUTER_API_KEY=protonPass(pass://Login/ERA_OPENROUTER_API_KEY/password)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POSTGRES_PASSWORD=protonPass(pass://Login/ERA_SIM_POSTGRES_PASSWORD/password)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BETTER_AUTH_SECRET=protonPass(pass://Login/ERA_SIM_BETTER_AUTH_SECRET/password)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ENCRYPTION_KEY=protonPass(pass://Login/ERA_SIM_ENCRYPTION_KEY/password)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# Generic pattern: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SECRET_VAR=protonPass(pass://Login/&lt;ITEM_TITLE&gt;/password)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3"/>
          <p:cNvSpPr/>
          <p:nvPr/>
        </p:nvSpPr>
        <p:spPr>
          <a:xfrm>
            <a:off x="0" y="54720"/>
            <a:ext cx="12191400" cy="2700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438840" y="219600"/>
            <a:ext cx="114296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Step 4 — Validate end-to-end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5"/>
          <p:cNvSpPr/>
          <p:nvPr/>
        </p:nvSpPr>
        <p:spPr>
          <a:xfrm>
            <a:off x="502920" y="2057400"/>
            <a:ext cx="2148480" cy="1919880"/>
          </a:xfrm>
          <a:prstGeom prst="roundRect">
            <a:avLst>
              <a:gd name="adj" fmla="val 16667"/>
            </a:avLst>
          </a:prstGeom>
          <a:solidFill>
            <a:srgbClr val="151f36"/>
          </a:solidFill>
          <a:ln w="17145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Update item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nector 6"/>
          <p:cNvCxnSpPr/>
          <p:nvPr/>
        </p:nvCxnSpPr>
        <p:spPr>
          <a:xfrm>
            <a:off x="2651760" y="3017520"/>
            <a:ext cx="182880" cy="360"/>
          </a:xfrm>
          <a:prstGeom prst="straightConnector1">
            <a:avLst/>
          </a:prstGeom>
          <a:ln>
            <a:solidFill>
              <a:srgbClr val="38bdf8"/>
            </a:solidFill>
            <a:round/>
          </a:ln>
        </p:spPr>
      </p:cxnSp>
      <p:sp>
        <p:nvSpPr>
          <p:cNvPr id="91" name="Rounded Rectangle 7"/>
          <p:cNvSpPr/>
          <p:nvPr/>
        </p:nvSpPr>
        <p:spPr>
          <a:xfrm>
            <a:off x="2834640" y="2057400"/>
            <a:ext cx="2148480" cy="1919880"/>
          </a:xfrm>
          <a:prstGeom prst="roundRect">
            <a:avLst>
              <a:gd name="adj" fmla="val 16667"/>
            </a:avLst>
          </a:prstGeom>
          <a:solidFill>
            <a:srgbClr val="1c2844"/>
          </a:solidFill>
          <a:ln w="17145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Update .env.schema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Connector 8"/>
          <p:cNvCxnSpPr/>
          <p:nvPr/>
        </p:nvCxnSpPr>
        <p:spPr>
          <a:xfrm>
            <a:off x="4983120" y="3017520"/>
            <a:ext cx="183240" cy="360"/>
          </a:xfrm>
          <a:prstGeom prst="straightConnector1">
            <a:avLst/>
          </a:prstGeom>
          <a:ln>
            <a:solidFill>
              <a:srgbClr val="38bdf8"/>
            </a:solidFill>
            <a:round/>
          </a:ln>
        </p:spPr>
      </p:cxnSp>
      <p:sp>
        <p:nvSpPr>
          <p:cNvPr id="93" name="Rounded Rectangle 9"/>
          <p:cNvSpPr/>
          <p:nvPr/>
        </p:nvSpPr>
        <p:spPr>
          <a:xfrm>
            <a:off x="5166360" y="2057400"/>
            <a:ext cx="2148480" cy="1919880"/>
          </a:xfrm>
          <a:prstGeom prst="roundRect">
            <a:avLst>
              <a:gd name="adj" fmla="val 16667"/>
            </a:avLst>
          </a:prstGeom>
          <a:solidFill>
            <a:srgbClr val="151f36"/>
          </a:solidFill>
          <a:ln w="17145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varlock load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Connector 10"/>
          <p:cNvCxnSpPr/>
          <p:nvPr/>
        </p:nvCxnSpPr>
        <p:spPr>
          <a:xfrm>
            <a:off x="7315200" y="3017520"/>
            <a:ext cx="182880" cy="360"/>
          </a:xfrm>
          <a:prstGeom prst="straightConnector1">
            <a:avLst/>
          </a:prstGeom>
          <a:ln>
            <a:solidFill>
              <a:srgbClr val="38bdf8"/>
            </a:solidFill>
            <a:round/>
          </a:ln>
        </p:spPr>
      </p:cxnSp>
      <p:sp>
        <p:nvSpPr>
          <p:cNvPr id="95" name="Rounded Rectangle 11"/>
          <p:cNvSpPr/>
          <p:nvPr/>
        </p:nvSpPr>
        <p:spPr>
          <a:xfrm>
            <a:off x="7498080" y="2057400"/>
            <a:ext cx="2148480" cy="1919880"/>
          </a:xfrm>
          <a:prstGeom prst="roundRect">
            <a:avLst>
              <a:gd name="adj" fmla="val 16667"/>
            </a:avLst>
          </a:prstGeom>
          <a:solidFill>
            <a:srgbClr val="1c2844"/>
          </a:solidFill>
          <a:ln w="17145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Service check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Connector 12"/>
          <p:cNvCxnSpPr/>
          <p:nvPr/>
        </p:nvCxnSpPr>
        <p:spPr>
          <a:xfrm>
            <a:off x="9646560" y="3017520"/>
            <a:ext cx="183600" cy="360"/>
          </a:xfrm>
          <a:prstGeom prst="straightConnector1">
            <a:avLst/>
          </a:prstGeom>
          <a:ln>
            <a:solidFill>
              <a:srgbClr val="38bdf8"/>
            </a:solidFill>
            <a:round/>
          </a:ln>
        </p:spPr>
      </p:cxnSp>
      <p:sp>
        <p:nvSpPr>
          <p:cNvPr id="97" name="Rounded Rectangle 13"/>
          <p:cNvSpPr/>
          <p:nvPr/>
        </p:nvSpPr>
        <p:spPr>
          <a:xfrm>
            <a:off x="9829800" y="2057400"/>
            <a:ext cx="2148480" cy="1919880"/>
          </a:xfrm>
          <a:prstGeom prst="roundRect">
            <a:avLst>
              <a:gd name="adj" fmla="val 16667"/>
            </a:avLst>
          </a:prstGeom>
          <a:solidFill>
            <a:srgbClr val="151f36"/>
          </a:solidFill>
          <a:ln w="17145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Set rotation date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4"/>
          <p:cNvSpPr/>
          <p:nvPr/>
        </p:nvSpPr>
        <p:spPr>
          <a:xfrm>
            <a:off x="640080" y="4343400"/>
            <a:ext cx="10972440" cy="2148480"/>
          </a:xfrm>
          <a:prstGeom prst="roundRect">
            <a:avLst>
              <a:gd name="adj" fmla="val 16667"/>
            </a:avLst>
          </a:prstGeom>
          <a:solidFill>
            <a:srgbClr val="151f36"/>
          </a:solidFill>
          <a:ln w="17145">
            <a:solidFill>
              <a:srgbClr val="facc1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acc15"/>
                </a:solidFill>
                <a:effectLst/>
                <a:uFillTx/>
                <a:latin typeface="Calibri"/>
              </a:rPr>
              <a:t>Run these checks:</a:t>
            </a:r>
            <a:endParaRPr lang="en-GB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varlock load --path ~/.config/fabric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varlock load --path ~/.hermes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varlock load --path ~/git/cloned/reference/sim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2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3"/>
          <p:cNvSpPr/>
          <p:nvPr/>
        </p:nvSpPr>
        <p:spPr>
          <a:xfrm>
            <a:off x="0" y="54720"/>
            <a:ext cx="12191400" cy="2700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438840" y="219600"/>
            <a:ext cx="114296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Copy/Paste Metadata Note Template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5"/>
          <p:cNvSpPr/>
          <p:nvPr/>
        </p:nvSpPr>
        <p:spPr>
          <a:xfrm>
            <a:off x="502920" y="1325880"/>
            <a:ext cx="8000640" cy="5440320"/>
          </a:xfrm>
          <a:prstGeom prst="roundRect">
            <a:avLst>
              <a:gd name="adj" fmla="val 16667"/>
            </a:avLst>
          </a:prstGeom>
          <a:solidFill>
            <a:srgbClr val="151f36"/>
          </a:solidFill>
          <a:ln w="17145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owner: &lt;team-or-person&gt;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system: &lt;system-name&gt;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environment: &lt;dev|staging|prod|shared&gt;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secret_type: &lt;api_key|db_password|token|jwt_secret|encryption_key&gt;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rotation_url: &lt;provider-rotation-url&gt;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created_at: &lt;YYYY-MM-DD&gt;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last_rotated_at: &lt;YYYY-MM-DD&gt;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next_rotation_due: &lt;YYYY-MM-DD&gt;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incident_rotation_required: &lt;true|false&gt;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onsolas"/>
              </a:rPr>
              <a:t>notes: &lt;free-text&gt;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6"/>
          <p:cNvSpPr/>
          <p:nvPr/>
        </p:nvSpPr>
        <p:spPr>
          <a:xfrm>
            <a:off x="8686800" y="1325880"/>
            <a:ext cx="2971440" cy="5440320"/>
          </a:xfrm>
          <a:prstGeom prst="roundRect">
            <a:avLst>
              <a:gd name="adj" fmla="val 16667"/>
            </a:avLst>
          </a:prstGeom>
          <a:solidFill>
            <a:srgbClr val="1c2844"/>
          </a:solidFill>
          <a:ln w="17145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Before save:</a:t>
            </a:r>
            <a:endParaRPr lang="en-GB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✓ owner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✓ system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✓ rotation_url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✓ dates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ecf5ff"/>
                </a:solidFill>
                <a:effectLst/>
                <a:uFillTx/>
                <a:latin typeface="Calibri"/>
              </a:rPr>
              <a:t>✓ notes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LibreOffice/25.8.5.2$Linux_X86_64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