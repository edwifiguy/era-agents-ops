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19456"/>
            <a:ext cx="1143000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5FF"/>
                </a:solidFill>
              </a:defRPr>
            </a:pPr>
            <a:r>
              <a:t>Secret Template Entry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Modern theme • Verified vs live Varlock mapping • Proton Pass + Varlock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10972800" cy="4983480"/>
          </a:xfrm>
          <a:prstGeom prst="roundRect">
            <a:avLst/>
          </a:prstGeom>
          <a:solidFill>
            <a:srgbClr val="151F36"/>
          </a:solidFill>
          <a:ln w="1714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What this deck covers:</a:t>
            </a:r>
          </a:p>
          <a:p>
            <a:pPr>
              <a:defRPr sz="2100" b="0">
                <a:solidFill>
                  <a:srgbClr val="ECF5FF"/>
                </a:solidFill>
              </a:defRPr>
            </a:pPr>
            <a:r>
              <a:t>➜ Exact naming format for Proton Pass items</a:t>
            </a:r>
          </a:p>
          <a:p>
            <a:pPr>
              <a:defRPr sz="2100" b="0">
                <a:solidFill>
                  <a:srgbClr val="ECF5FF"/>
                </a:solidFill>
              </a:defRPr>
            </a:pPr>
            <a:r>
              <a:t>➜ Exact field to store secret values (password)</a:t>
            </a:r>
          </a:p>
          <a:p>
            <a:pPr>
              <a:defRPr sz="2100" b="0">
                <a:solidFill>
                  <a:srgbClr val="ECF5FF"/>
                </a:solidFill>
              </a:defRPr>
            </a:pPr>
            <a:r>
              <a:t>➜ Exact Varlock pass:// mapping pattern</a:t>
            </a:r>
          </a:p>
          <a:p>
            <a:pPr>
              <a:defRPr sz="2100" b="0">
                <a:solidFill>
                  <a:srgbClr val="ECF5FF"/>
                </a:solidFill>
              </a:defRPr>
            </a:pPr>
            <a:r>
              <a:t>➜ Validation + rotation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19456"/>
            <a:ext cx="1143000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5FF"/>
                </a:solidFill>
              </a:defRPr>
            </a:pPr>
            <a:r>
              <a:t>Step 1 — Name each secret item correctly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94960" cy="2148840"/>
          </a:xfrm>
          <a:prstGeom prst="roundRect">
            <a:avLst/>
          </a:prstGeom>
          <a:solidFill>
            <a:srgbClr val="151F36"/>
          </a:solidFill>
          <a:ln w="1714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4ADE80"/>
                </a:solidFill>
              </a:defRPr>
            </a:pPr>
            <a:r>
              <a:t>Shared format</a:t>
            </a:r>
          </a:p>
          <a:p>
            <a:pPr>
              <a:defRPr sz="1900" b="0">
                <a:solidFill>
                  <a:srgbClr val="ECF5FF"/>
                </a:solidFill>
              </a:defRPr>
            </a:pPr>
            <a:r>
              <a:t>ERA_&lt;SECRET_NAME&gt;</a:t>
            </a:r>
          </a:p>
          <a:p>
            <a:pPr>
              <a:defRPr sz="1900" b="0">
                <a:solidFill>
                  <a:srgbClr val="ECF5FF"/>
                </a:solidFill>
              </a:defRPr>
            </a:pPr>
            <a:r>
              <a:t>Example: ERA_OPENROUTER_API_KEY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417320"/>
            <a:ext cx="5303520" cy="2148840"/>
          </a:xfrm>
          <a:prstGeom prst="roundRect">
            <a:avLst/>
          </a:prstGeom>
          <a:solidFill>
            <a:srgbClr val="1C2844"/>
          </a:solidFill>
          <a:ln w="1714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4ADE80"/>
                </a:solidFill>
              </a:defRPr>
            </a:pPr>
            <a:r>
              <a:t>System format</a:t>
            </a:r>
          </a:p>
          <a:p>
            <a:pPr>
              <a:defRPr sz="1900" b="0">
                <a:solidFill>
                  <a:srgbClr val="ECF5FF"/>
                </a:solidFill>
              </a:defRPr>
            </a:pPr>
            <a:r>
              <a:t>ERA_&lt;SYSTEM&gt;_&lt;SECRET_NAME&gt;</a:t>
            </a:r>
          </a:p>
          <a:p>
            <a:pPr>
              <a:defRPr sz="1900" b="0">
                <a:solidFill>
                  <a:srgbClr val="ECF5FF"/>
                </a:solidFill>
              </a:defRPr>
            </a:pPr>
            <a:r>
              <a:t>Example: ERA_FABRIC_INTERNAL_API_SECRET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94760"/>
            <a:ext cx="11018520" cy="2606040"/>
          </a:xfrm>
          <a:prstGeom prst="roundRect">
            <a:avLst/>
          </a:prstGeom>
          <a:solidFill>
            <a:srgbClr val="151F36"/>
          </a:solidFill>
          <a:ln w="1714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Choose format by scope:</a:t>
            </a:r>
          </a:p>
          <a:p>
            <a:pPr>
              <a:defRPr sz="1800" b="0">
                <a:solidFill>
                  <a:srgbClr val="ECF5FF"/>
                </a:solidFill>
              </a:defRPr>
            </a:pPr>
            <a:r>
              <a:t>• Shared provider keys → ERA_&lt;SECRET_NAME&gt;</a:t>
            </a:r>
          </a:p>
          <a:p>
            <a:pPr>
              <a:defRPr sz="1800" b="0">
                <a:solidFill>
                  <a:srgbClr val="ECF5FF"/>
                </a:solidFill>
              </a:defRPr>
            </a:pPr>
            <a:r>
              <a:t>• System-specific keys (fabric, hermes, etc.) → ERA_&lt;SYSTEM&gt;_&lt;SECRET_NAME&gt;</a:t>
            </a:r>
          </a:p>
          <a:p>
            <a:pPr>
              <a:defRPr sz="1800" b="0">
                <a:solidFill>
                  <a:srgbClr val="ECF5FF"/>
                </a:solidFill>
              </a:defRPr>
            </a:pPr>
            <a:r>
              <a:t>• Keep titles UPPERCASE and underscore-delimited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19456"/>
            <a:ext cx="1143000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5FF"/>
                </a:solidFill>
              </a:defRPr>
            </a:pPr>
            <a:r>
              <a:t>Step 2 — Enter values in Proton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852160" cy="5440680"/>
          </a:xfrm>
          <a:prstGeom prst="roundRect">
            <a:avLst/>
          </a:prstGeom>
          <a:solidFill>
            <a:srgbClr val="151F36"/>
          </a:solidFill>
          <a:ln w="1714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38BDF8"/>
                </a:solidFill>
              </a:defRPr>
            </a:pPr>
            <a:r>
              <a:t>Proton Pass item fields:</a:t>
            </a:r>
          </a:p>
          <a:p>
            <a:pPr>
              <a:defRPr sz="1700" b="0">
                <a:solidFill>
                  <a:srgbClr val="ECF5FF"/>
                </a:solidFill>
              </a:defRPr>
            </a:pPr>
            <a:r>
              <a:t>• Vault: Login</a:t>
            </a:r>
          </a:p>
          <a:p>
            <a:pPr>
              <a:defRPr sz="1700" b="0">
                <a:solidFill>
                  <a:srgbClr val="ECF5FF"/>
                </a:solidFill>
              </a:defRPr>
            </a:pPr>
            <a:r>
              <a:t>• Item type: Login</a:t>
            </a:r>
          </a:p>
          <a:p>
            <a:pPr>
              <a:defRPr sz="1700" b="0">
                <a:solidFill>
                  <a:srgbClr val="ECF5FF"/>
                </a:solidFill>
              </a:defRPr>
            </a:pPr>
            <a:r>
              <a:t>• Title: exact mapped item title</a:t>
            </a:r>
          </a:p>
          <a:p>
            <a:pPr>
              <a:defRPr sz="1700" b="0">
                <a:solidFill>
                  <a:srgbClr val="ECF5FF"/>
                </a:solidFill>
              </a:defRPr>
            </a:pPr>
            <a:r>
              <a:t>• Password field: actual secret value</a:t>
            </a:r>
          </a:p>
          <a:p>
            <a:pPr>
              <a:defRPr sz="1700" b="0">
                <a:solidFill>
                  <a:srgbClr val="ECF5FF"/>
                </a:solidFill>
              </a:defRPr>
            </a:pPr>
            <a:r>
              <a:t>• Username: varlock (optional)</a:t>
            </a:r>
          </a:p>
          <a:p>
            <a:pPr>
              <a:defRPr sz="1700" b="0">
                <a:solidFill>
                  <a:srgbClr val="ECF5FF"/>
                </a:solidFill>
              </a:defRPr>
            </a:pPr>
            <a:r>
              <a:t>• Notes: metadata block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325880"/>
            <a:ext cx="5257800" cy="5440680"/>
          </a:xfrm>
          <a:prstGeom prst="roundRect">
            <a:avLst/>
          </a:prstGeom>
          <a:solidFill>
            <a:srgbClr val="1C2844"/>
          </a:solidFill>
          <a:ln w="1714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Active mapped item titles:</a:t>
            </a:r>
          </a:p>
          <a:p>
            <a:pPr>
              <a:defRPr sz="1700" b="0">
                <a:solidFill>
                  <a:srgbClr val="ECF5FF"/>
                </a:solidFill>
              </a:defRPr>
            </a:pPr>
            <a:r>
              <a:t>ERA_ANTHROPIC_API_KEY</a:t>
            </a:r>
          </a:p>
          <a:p>
            <a:pPr>
              <a:defRPr sz="1700" b="0">
                <a:solidFill>
                  <a:srgbClr val="ECF5FF"/>
                </a:solidFill>
              </a:defRPr>
            </a:pPr>
            <a:r>
              <a:t>ERA_GEMINI_API_KEY</a:t>
            </a:r>
          </a:p>
          <a:p>
            <a:pPr>
              <a:defRPr sz="1700" b="0">
                <a:solidFill>
                  <a:srgbClr val="ECF5FF"/>
                </a:solidFill>
              </a:defRPr>
            </a:pPr>
            <a:r>
              <a:t>ERA_OPENROUTER_API_KEY</a:t>
            </a:r>
          </a:p>
          <a:p>
            <a:pPr>
              <a:defRPr sz="1700" b="0">
                <a:solidFill>
                  <a:srgbClr val="ECF5FF"/>
                </a:solidFill>
              </a:defRPr>
            </a:pPr>
          </a:p>
          <a:p>
            <a:pPr>
              <a:defRPr sz="1700" b="0">
                <a:solidFill>
                  <a:srgbClr val="ECF5FF"/>
                </a:solidFill>
              </a:defRPr>
            </a:pPr>
          </a:p>
          <a:p>
            <a:pPr>
              <a:defRPr sz="1700" b="0">
                <a:solidFill>
                  <a:srgbClr val="ECF5FF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19456"/>
            <a:ext cx="1143000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5FF"/>
                </a:solidFill>
              </a:defRPr>
            </a:pPr>
            <a:r>
              <a:t>Step 3 — Add Varlock reference in .env.schema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0972800" cy="5349240"/>
          </a:xfrm>
          <a:prstGeom prst="roundRect">
            <a:avLst/>
          </a:prstGeom>
          <a:solidFill>
            <a:srgbClr val="151F36"/>
          </a:solidFill>
          <a:ln w="1714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ECF5FF"/>
                </a:solidFill>
                <a:latin typeface="Consolas"/>
              </a:defRPr>
            </a:pPr>
            <a:r>
              <a:rPr sz="1600">
                <a:solidFill>
                  <a:srgbClr val="ECF5FF"/>
                </a:solidFill>
                <a:latin typeface="Consolas"/>
              </a:rPr>
              <a:t># Exact active mappings:</a:t>
            </a:r>
          </a:p>
          <a:p>
            <a:pPr/>
            <a:r>
              <a:rPr sz="1600">
                <a:solidFill>
                  <a:srgbClr val="ECF5FF"/>
                </a:solidFill>
                <a:latin typeface="Consolas"/>
              </a:rPr>
              <a:t>ANTHROPIC_API_KEY=protonPass(pass://Login/ERA_ANTHROPIC_API_KEY/password)</a:t>
            </a:r>
          </a:p>
          <a:p>
            <a:pPr/>
            <a:r>
              <a:rPr sz="1600">
                <a:solidFill>
                  <a:srgbClr val="ECF5FF"/>
                </a:solidFill>
                <a:latin typeface="Consolas"/>
              </a:rPr>
              <a:t>GEMINI_API_KEY=protonPass(pass://Login/ERA_GEMINI_API_KEY/password)</a:t>
            </a:r>
          </a:p>
          <a:p>
            <a:pPr/>
            <a:r>
              <a:rPr sz="1600">
                <a:solidFill>
                  <a:srgbClr val="ECF5FF"/>
                </a:solidFill>
                <a:latin typeface="Consolas"/>
              </a:rPr>
              <a:t>OPENROUTER_API_KEY=protonPass(pass://Login/ERA_OPENROUTER_API_KEY/password)</a:t>
            </a:r>
          </a:p>
          <a:p>
            <a:pPr/>
            <a:r>
              <a:t>OPENROUTER_API_KEY_FALLBACK=protonPass(pass://Login/ERA_OPENROUTER_API_KEY_FALLBACK/password)</a:t>
            </a:r>
          </a:p>
          <a:p>
            <a:pPr/>
          </a:p>
          <a:p>
            <a:pPr/>
          </a:p>
          <a:p>
            <a:pPr/>
            <a:r>
              <a:rPr sz="1600">
                <a:solidFill>
                  <a:srgbClr val="ECF5FF"/>
                </a:solidFill>
                <a:latin typeface="Consolas"/>
              </a:rPr>
              <a:t/>
            </a:r>
          </a:p>
          <a:p>
            <a:pPr/>
            <a:r>
              <a:rPr sz="1600">
                <a:solidFill>
                  <a:srgbClr val="ECF5FF"/>
                </a:solidFill>
                <a:latin typeface="Consolas"/>
              </a:rPr>
              <a:t># Generic pattern:</a:t>
            </a:r>
          </a:p>
          <a:p>
            <a:pPr/>
            <a:r>
              <a:rPr sz="1600">
                <a:solidFill>
                  <a:srgbClr val="ECF5FF"/>
                </a:solidFill>
                <a:latin typeface="Consolas"/>
              </a:rPr>
              <a:t>SECRET_VAR=protonPass(pass://Login/&lt;ITEM_TITLE&gt;/password)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19456"/>
            <a:ext cx="1143000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5FF"/>
                </a:solidFill>
              </a:defRPr>
            </a:pPr>
            <a:r>
              <a:t>Step 4 — Validate end-to-end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2148840" cy="1920240"/>
          </a:xfrm>
          <a:prstGeom prst="roundRect">
            <a:avLst/>
          </a:prstGeom>
          <a:solidFill>
            <a:srgbClr val="151F36"/>
          </a:solidFill>
          <a:ln w="1714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CF5FF"/>
                </a:solidFill>
              </a:defRPr>
            </a:pPr>
            <a:r>
              <a:t>Update item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3017520"/>
            <a:ext cx="182879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34639" y="2057400"/>
            <a:ext cx="2148840" cy="1920240"/>
          </a:xfrm>
          <a:prstGeom prst="roundRect">
            <a:avLst/>
          </a:prstGeom>
          <a:solidFill>
            <a:srgbClr val="1C2844"/>
          </a:solidFill>
          <a:ln w="1714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CF5FF"/>
                </a:solidFill>
              </a:defRPr>
            </a:pPr>
            <a:r>
              <a:t>Update .env.schema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83479" y="3017520"/>
            <a:ext cx="182880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66359" y="2057400"/>
            <a:ext cx="2148840" cy="1920240"/>
          </a:xfrm>
          <a:prstGeom prst="roundRect">
            <a:avLst/>
          </a:prstGeom>
          <a:solidFill>
            <a:srgbClr val="151F36"/>
          </a:solidFill>
          <a:ln w="1714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CF5FF"/>
                </a:solidFill>
              </a:defRPr>
            </a:pPr>
            <a:r>
              <a:t>varlock load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0" y="3017520"/>
            <a:ext cx="182879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98079" y="2057400"/>
            <a:ext cx="2148840" cy="1920240"/>
          </a:xfrm>
          <a:prstGeom prst="roundRect">
            <a:avLst/>
          </a:prstGeom>
          <a:solidFill>
            <a:srgbClr val="1C2844"/>
          </a:solidFill>
          <a:ln w="1714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CF5FF"/>
                </a:solidFill>
              </a:defRPr>
            </a:pPr>
            <a:r>
              <a:t>Service check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46919" y="3017520"/>
            <a:ext cx="182881" cy="0"/>
          </a:xfrm>
          <a:prstGeom prst="line">
            <a:avLst/>
          </a:prstGeom>
          <a:ln w="254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829800" y="2057400"/>
            <a:ext cx="2148840" cy="1920240"/>
          </a:xfrm>
          <a:prstGeom prst="roundRect">
            <a:avLst/>
          </a:prstGeom>
          <a:solidFill>
            <a:srgbClr val="151F36"/>
          </a:solidFill>
          <a:ln w="1714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CF5FF"/>
                </a:solidFill>
              </a:defRPr>
            </a:pPr>
            <a:r>
              <a:t>Set rotation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10972800" cy="2148840"/>
          </a:xfrm>
          <a:prstGeom prst="roundRect">
            <a:avLst/>
          </a:prstGeom>
          <a:solidFill>
            <a:srgbClr val="151F36"/>
          </a:solidFill>
          <a:ln w="17145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ACC15"/>
                </a:solidFill>
              </a:defRPr>
            </a:pPr>
            <a:r>
              <a:t>Run these checks:</a:t>
            </a:r>
          </a:p>
          <a:p>
            <a:pPr>
              <a:defRPr sz="1700" b="0">
                <a:solidFill>
                  <a:srgbClr val="ECF5FF"/>
                </a:solidFill>
                <a:latin typeface="Consolas"/>
              </a:defRPr>
            </a:pPr>
            <a:r>
              <a:t>varlock load --path ~/.config/fabric</a:t>
            </a:r>
          </a:p>
          <a:p>
            <a:pPr>
              <a:defRPr sz="1700" b="0">
                <a:solidFill>
                  <a:srgbClr val="ECF5FF"/>
                </a:solidFill>
                <a:latin typeface="Consolas"/>
              </a:defRPr>
            </a:pPr>
            <a:r>
              <a:t>varlock load --path ~/.hermes</a:t>
            </a:r>
          </a:p>
          <a:p>
            <a:pPr>
              <a:defRPr sz="1700" b="0">
                <a:solidFill>
                  <a:srgbClr val="ECF5FF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19456"/>
            <a:ext cx="1143000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5FF"/>
                </a:solidFill>
              </a:defRPr>
            </a:pPr>
            <a:r>
              <a:rPr sz="2600">
                <a:solidFill>
                  <a:srgbClr val="ECF5FF"/>
                </a:solidFill>
                <a:latin typeface="Aptos Display"/>
              </a:rPr>
              <a:t>Metadata Notes Example (copy/edit)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8001000" cy="5440680"/>
          </a:xfrm>
          <a:prstGeom prst="roundRect">
            <a:avLst/>
          </a:prstGeom>
          <a:solidFill>
            <a:srgbClr val="151F36"/>
          </a:solidFill>
          <a:ln w="1714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ECF5FF"/>
                </a:solidFill>
                <a:latin typeface="Consolas"/>
              </a:defRPr>
            </a:pPr>
            <a:r>
              <a:rPr sz="1500">
                <a:solidFill>
                  <a:srgbClr val="ECF5FF"/>
                </a:solidFill>
                <a:latin typeface="Consolas"/>
              </a:rPr>
              <a:t>owner: era-estate</a:t>
            </a:r>
          </a:p>
          <a:p>
            <a:r>
              <a:rPr sz="1500">
                <a:solidFill>
                  <a:srgbClr val="ECF5FF"/>
                </a:solidFill>
                <a:latin typeface="Consolas"/>
              </a:rPr>
              <a:t>system: hermes</a:t>
            </a:r>
          </a:p>
          <a:p>
            <a:r>
              <a:rPr sz="1500">
                <a:solidFill>
                  <a:srgbClr val="ECF5FF"/>
                </a:solidFill>
                <a:latin typeface="Consolas"/>
              </a:rPr>
              <a:t>environment: shared</a:t>
            </a:r>
          </a:p>
          <a:p>
            <a:r>
              <a:rPr sz="1500">
                <a:solidFill>
                  <a:srgbClr val="ECF5FF"/>
                </a:solidFill>
                <a:latin typeface="Consolas"/>
              </a:rPr>
              <a:t>secret_type: api_key</a:t>
            </a:r>
          </a:p>
          <a:p>
            <a:r>
              <a:rPr sz="1500">
                <a:solidFill>
                  <a:srgbClr val="ECF5FF"/>
                </a:solidFill>
                <a:latin typeface="Consolas"/>
              </a:rPr>
              <a:t>rotation_url: https://openrouter.ai/settings/keys</a:t>
            </a:r>
          </a:p>
          <a:p>
            <a:r>
              <a:rPr sz="1500">
                <a:solidFill>
                  <a:srgbClr val="ECF5FF"/>
                </a:solidFill>
                <a:latin typeface="Consolas"/>
              </a:rPr>
              <a:t>created_at: 2026-04-23</a:t>
            </a:r>
          </a:p>
          <a:p>
            <a:r>
              <a:rPr sz="1500">
                <a:solidFill>
                  <a:srgbClr val="ECF5FF"/>
                </a:solidFill>
                <a:latin typeface="Consolas"/>
              </a:rPr>
              <a:t>last_rotated_at: 2026-04-23</a:t>
            </a:r>
          </a:p>
          <a:p>
            <a:r>
              <a:rPr sz="1500">
                <a:solidFill>
                  <a:srgbClr val="ECF5FF"/>
                </a:solidFill>
                <a:latin typeface="Consolas"/>
              </a:rPr>
              <a:t>next_rotation_due: 2026-07-23</a:t>
            </a:r>
          </a:p>
          <a:p>
            <a:r>
              <a:rPr sz="1500">
                <a:solidFill>
                  <a:srgbClr val="ECF5FF"/>
                </a:solidFill>
                <a:latin typeface="Consolas"/>
              </a:rPr>
              <a:t>incident_rotation_required: false</a:t>
            </a:r>
          </a:p>
          <a:p>
            <a:r>
              <a:rPr sz="1500">
                <a:solidFill>
                  <a:srgbClr val="ECF5FF"/>
                </a:solidFill>
                <a:latin typeface="Consolas"/>
              </a:rPr>
              <a:t>notes: Primary OpenRouter key used by Hermes via Varlock; rotate immediately if exposed.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325880"/>
            <a:ext cx="2971800" cy="5440680"/>
          </a:xfrm>
          <a:prstGeom prst="roundRect">
            <a:avLst/>
          </a:prstGeom>
          <a:solidFill>
            <a:srgbClr val="1C2844"/>
          </a:solidFill>
          <a:ln w="17145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4ADE80"/>
                </a:solidFill>
              </a:defRPr>
            </a:pPr>
            <a:r>
              <a:rPr sz="1400" b="1">
                <a:solidFill>
                  <a:srgbClr val="4ADE80"/>
                </a:solidFill>
                <a:latin typeface="Aptos"/>
              </a:rPr>
              <a:t>Before save:</a:t>
            </a:r>
          </a:p>
          <a:p>
            <a:r>
              <a:rPr sz="1400">
                <a:solidFill>
                  <a:srgbClr val="ECF5FF"/>
                </a:solidFill>
                <a:latin typeface="Aptos"/>
              </a:rPr>
              <a:t>✓ Title matches mapping</a:t>
            </a:r>
          </a:p>
          <a:p>
            <a:r>
              <a:rPr sz="1400">
                <a:solidFill>
                  <a:srgbClr val="ECF5FF"/>
                </a:solidFill>
                <a:latin typeface="Aptos"/>
              </a:rPr>
              <a:t>✓ Secret in Password field</a:t>
            </a:r>
          </a:p>
          <a:p>
            <a:r>
              <a:rPr sz="1400">
                <a:solidFill>
                  <a:srgbClr val="ECF5FF"/>
                </a:solidFill>
                <a:latin typeface="Aptos"/>
              </a:rPr>
              <a:t>✓ Dates in YYYY-MM-DD</a:t>
            </a:r>
          </a:p>
          <a:p>
            <a:r>
              <a:rPr sz="1400">
                <a:solidFill>
                  <a:srgbClr val="ECF5FF"/>
                </a:solidFill>
                <a:latin typeface="Aptos"/>
              </a:rPr>
              <a:t>✓ rotation_url present</a:t>
            </a:r>
          </a:p>
          <a:p>
            <a:r>
              <a:rPr sz="1400">
                <a:solidFill>
                  <a:srgbClr val="ECF5FF"/>
                </a:solidFill>
                <a:latin typeface="Aptos"/>
              </a:rPr>
              <a:t>✓ notes explain purpose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19456"/>
            <a:ext cx="1143000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ECF5FF"/>
                </a:solidFill>
                <a:latin typeface="Aptos Display"/>
              </a:rPr>
              <a:t>Metadata field options (pick one per line)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5623560" cy="4892040"/>
          </a:xfrm>
          <a:prstGeom prst="rect">
            <a:avLst/>
          </a:prstGeom>
          <a:solidFill>
            <a:srgbClr val="17244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4ADE80"/>
                </a:solidFill>
                <a:latin typeface="Aptos"/>
              </a:rPr>
              <a:t>Identity fields:</a:t>
            </a:r>
          </a:p>
          <a:p>
            <a:r>
              <a:rPr sz="1600">
                <a:solidFill>
                  <a:srgbClr val="ECF5FF"/>
                </a:solidFill>
                <a:latin typeface="Aptos"/>
              </a:rPr>
              <a:t>owner: your_name | team_name</a:t>
            </a:r>
          </a:p>
          <a:p>
            <a:r>
              <a:t>system: hermes | fabric</a:t>
            </a:r>
          </a:p>
          <a:p>
            <a:r>
              <a:rPr sz="1600">
                <a:solidFill>
                  <a:srgbClr val="ECF5FF"/>
                </a:solidFill>
                <a:latin typeface="Aptos"/>
              </a:rPr>
              <a:t>environment: dev | staging | prod | shared</a:t>
            </a:r>
          </a:p>
          <a:p>
            <a:r>
              <a:rPr sz="1600">
                <a:solidFill>
                  <a:srgbClr val="ECF5FF"/>
                </a:solidFill>
                <a:latin typeface="Aptos"/>
              </a:rPr>
              <a:t/>
            </a:r>
          </a:p>
          <a:p>
            <a:r>
              <a:rPr sz="1600">
                <a:solidFill>
                  <a:srgbClr val="4ADE80"/>
                </a:solidFill>
                <a:latin typeface="Aptos"/>
              </a:rPr>
              <a:t>Secret type options:</a:t>
            </a:r>
          </a:p>
          <a:p>
            <a:r>
              <a:rPr sz="1600">
                <a:solidFill>
                  <a:srgbClr val="ECF5FF"/>
                </a:solidFill>
                <a:latin typeface="Aptos"/>
              </a:rPr>
              <a:t>api_key | db_password | token</a:t>
            </a:r>
          </a:p>
          <a:p>
            <a:r>
              <a:rPr sz="1600">
                <a:solidFill>
                  <a:srgbClr val="ECF5FF"/>
                </a:solidFill>
                <a:latin typeface="Aptos"/>
              </a:rPr>
              <a:t>jwt_secret | encryption_key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325880"/>
            <a:ext cx="5303520" cy="4892040"/>
          </a:xfrm>
          <a:prstGeom prst="rect">
            <a:avLst/>
          </a:prstGeom>
          <a:solidFill>
            <a:srgbClr val="17244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ACC15"/>
                </a:solidFill>
                <a:latin typeface="Aptos"/>
              </a:rPr>
              <a:t>Lifecycle fields:</a:t>
            </a:r>
          </a:p>
          <a:p>
            <a:r>
              <a:rPr sz="1600">
                <a:solidFill>
                  <a:srgbClr val="ECF5FF"/>
                </a:solidFill>
                <a:latin typeface="Aptos"/>
              </a:rPr>
              <a:t>rotation_url: provider keys URL</a:t>
            </a:r>
          </a:p>
          <a:p>
            <a:r>
              <a:rPr sz="1600">
                <a:solidFill>
                  <a:srgbClr val="ECF5FF"/>
                </a:solidFill>
                <a:latin typeface="Aptos"/>
              </a:rPr>
              <a:t>or internal runbook URL</a:t>
            </a:r>
          </a:p>
          <a:p>
            <a:r>
              <a:rPr sz="1600">
                <a:solidFill>
                  <a:srgbClr val="ECF5FF"/>
                </a:solidFill>
                <a:latin typeface="Aptos"/>
              </a:rPr>
              <a:t>created_at: YYYY-MM-DD</a:t>
            </a:r>
          </a:p>
          <a:p>
            <a:r>
              <a:rPr sz="1600">
                <a:solidFill>
                  <a:srgbClr val="ECF5FF"/>
                </a:solidFill>
                <a:latin typeface="Aptos"/>
              </a:rPr>
              <a:t>last_rotated_at: YYYY-MM-DD</a:t>
            </a:r>
          </a:p>
          <a:p>
            <a:r>
              <a:rPr sz="1600">
                <a:solidFill>
                  <a:srgbClr val="ECF5FF"/>
                </a:solidFill>
                <a:latin typeface="Aptos"/>
              </a:rPr>
              <a:t>next_rotation_due: YYYY-MM-DD</a:t>
            </a:r>
          </a:p>
          <a:p>
            <a:r>
              <a:rPr sz="1600">
                <a:solidFill>
                  <a:srgbClr val="ECF5FF"/>
                </a:solidFill>
                <a:latin typeface="Aptos"/>
              </a:rPr>
              <a:t>incident_rotation_required: true | false</a:t>
            </a:r>
          </a:p>
          <a:p>
            <a:r>
              <a:rPr sz="1600">
                <a:solidFill>
                  <a:srgbClr val="ECF5FF"/>
                </a:solidFill>
                <a:latin typeface="Aptos"/>
              </a:rPr>
              <a:t>notes: purpose + scope + action</a:t>
            </a:r>
          </a:p>
          <a:p>
            <a:r>
              <a:rPr sz="1600">
                <a:solidFill>
                  <a:srgbClr val="ECF5FF"/>
                </a:solidFill>
                <a:latin typeface="Aptos"/>
              </a:rPr>
              <a:t/>
            </a:r>
          </a:p>
          <a:p>
            <a:r>
              <a:rPr sz="1600">
                <a:solidFill>
                  <a:srgbClr val="4ADE80"/>
                </a:solidFill>
                <a:latin typeface="Aptos"/>
              </a:rPr>
              <a:t>Tip: secret value goes in Password</a:t>
            </a:r>
          </a:p>
          <a:p>
            <a:r>
              <a:rPr sz="1600">
                <a:solidFill>
                  <a:srgbClr val="ECF5FF"/>
                </a:solidFill>
                <a:latin typeface="Aptos"/>
              </a:rPr>
              <a:t>field, not in Notes.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