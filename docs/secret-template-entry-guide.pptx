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19456"/>
            <a:ext cx="1143000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CF5FF"/>
                </a:solidFill>
              </a:defRPr>
            </a:pPr>
            <a:r>
              <a:t>Secret Template Entry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338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4A3B8"/>
                </a:solidFill>
              </a:defRPr>
            </a:pPr>
            <a:r>
              <a:t>Modern theme • Verified vs live Varlock mapping • Proton Pass + Varlock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10972800" cy="498348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ACC15"/>
                </a:solidFill>
              </a:defRPr>
            </a:pPr>
            <a:r>
              <a:t>What this deck covers:</a:t>
            </a:r>
          </a:p>
          <a:p>
            <a:pPr>
              <a:defRPr sz="2100" b="0">
                <a:solidFill>
                  <a:srgbClr val="ECF5FF"/>
                </a:solidFill>
              </a:defRPr>
            </a:pPr>
            <a:r>
              <a:t>➜ Exact naming format for Proton Pass items</a:t>
            </a:r>
          </a:p>
          <a:p>
            <a:pPr>
              <a:defRPr sz="2100" b="0">
                <a:solidFill>
                  <a:srgbClr val="ECF5FF"/>
                </a:solidFill>
              </a:defRPr>
            </a:pPr>
            <a:r>
              <a:t>➜ Exact field to store secret values (password)</a:t>
            </a:r>
          </a:p>
          <a:p>
            <a:pPr>
              <a:defRPr sz="2100" b="0">
                <a:solidFill>
                  <a:srgbClr val="ECF5FF"/>
                </a:solidFill>
              </a:defRPr>
            </a:pPr>
            <a:r>
              <a:t>➜ Exact Varlock pass:// mapping pattern</a:t>
            </a:r>
          </a:p>
          <a:p>
            <a:pPr>
              <a:defRPr sz="2100" b="0">
                <a:solidFill>
                  <a:srgbClr val="ECF5FF"/>
                </a:solidFill>
              </a:defRPr>
            </a:pPr>
            <a:r>
              <a:t>➜ Validation + rotation workflow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19456"/>
            <a:ext cx="1143000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CF5FF"/>
                </a:solidFill>
              </a:defRPr>
            </a:pPr>
            <a:r>
              <a:t>Step 1 — Name each secret item correctly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5394960" cy="214884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4ADE80"/>
                </a:solidFill>
              </a:defRPr>
            </a:pPr>
            <a:r>
              <a:t>Shared format</a:t>
            </a:r>
          </a:p>
          <a:p>
            <a:pPr>
              <a:defRPr sz="1900" b="0">
                <a:solidFill>
                  <a:srgbClr val="ECF5FF"/>
                </a:solidFill>
              </a:defRPr>
            </a:pPr>
            <a:r>
              <a:t>ERA_&lt;SECRET_NAME&gt;</a:t>
            </a:r>
          </a:p>
          <a:p>
            <a:pPr>
              <a:defRPr sz="1900" b="0">
                <a:solidFill>
                  <a:srgbClr val="ECF5FF"/>
                </a:solidFill>
              </a:defRPr>
            </a:pPr>
            <a:r>
              <a:t>Example: ERA_OPENROUTER_API_KEY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417320"/>
            <a:ext cx="5303520" cy="2148840"/>
          </a:xfrm>
          <a:prstGeom prst="roundRect">
            <a:avLst/>
          </a:prstGeom>
          <a:solidFill>
            <a:srgbClr val="1C2844"/>
          </a:solidFill>
          <a:ln w="17145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4ADE80"/>
                </a:solidFill>
              </a:defRPr>
            </a:pPr>
            <a:r>
              <a:t>System format</a:t>
            </a:r>
          </a:p>
          <a:p>
            <a:pPr>
              <a:defRPr sz="1900" b="0">
                <a:solidFill>
                  <a:srgbClr val="ECF5FF"/>
                </a:solidFill>
              </a:defRPr>
            </a:pPr>
            <a:r>
              <a:t>ERA_&lt;SYSTEM&gt;_&lt;SECRET_NAME&gt;</a:t>
            </a:r>
          </a:p>
          <a:p>
            <a:pPr>
              <a:defRPr sz="1900" b="0">
                <a:solidFill>
                  <a:srgbClr val="ECF5FF"/>
                </a:solidFill>
              </a:defRPr>
            </a:pPr>
            <a:r>
              <a:t>Example: ERA_SIM_POSTGRES_PASSWORD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94760"/>
            <a:ext cx="11018520" cy="260604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Choose format by scope:</a:t>
            </a:r>
          </a:p>
          <a:p>
            <a:pPr>
              <a:defRPr sz="1800" b="0">
                <a:solidFill>
                  <a:srgbClr val="ECF5FF"/>
                </a:solidFill>
              </a:defRPr>
            </a:pPr>
            <a:r>
              <a:t>• Shared provider keys → ERA_&lt;SECRET_NAME&gt;</a:t>
            </a:r>
          </a:p>
          <a:p>
            <a:pPr>
              <a:defRPr sz="1800" b="0">
                <a:solidFill>
                  <a:srgbClr val="ECF5FF"/>
                </a:solidFill>
              </a:defRPr>
            </a:pPr>
            <a:r>
              <a:t>• System-specific keys (sim, etc.) → ERA_&lt;SYSTEM&gt;_&lt;SECRET_NAME&gt;</a:t>
            </a:r>
          </a:p>
          <a:p>
            <a:pPr>
              <a:defRPr sz="1800" b="0">
                <a:solidFill>
                  <a:srgbClr val="ECF5FF"/>
                </a:solidFill>
              </a:defRPr>
            </a:pPr>
            <a:r>
              <a:t>• Keep titles UPPERCASE and underscore-delimited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19456"/>
            <a:ext cx="1143000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CF5FF"/>
                </a:solidFill>
              </a:defRPr>
            </a:pPr>
            <a:r>
              <a:t>Step 2 — Enter values in Proton Pass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5852160" cy="544068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38BDF8"/>
                </a:solidFill>
              </a:defRPr>
            </a:pPr>
            <a:r>
              <a:t>Proton Pass item fields: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• Vault: Login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• Item type: Login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• Title: exact mapped item title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• Password field: actual secret value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• Username: varlock (optional)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• Notes: metadata block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1325880"/>
            <a:ext cx="5257800" cy="5440680"/>
          </a:xfrm>
          <a:prstGeom prst="roundRect">
            <a:avLst/>
          </a:prstGeom>
          <a:solidFill>
            <a:srgbClr val="1C2844"/>
          </a:solidFill>
          <a:ln w="17145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A855F7"/>
                </a:solidFill>
              </a:defRPr>
            </a:pPr>
            <a:r>
              <a:t>Active mapped item titles: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ERA_ANTHROPIC_API_KEY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ERA_GEMINI_API_KEY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ERA_OPENROUTER_API_KEY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ERA_SIM_POSTGRES_PASSWORD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ERA_SIM_BETTER_AUTH_SECRET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ERA_SIM_ENCRYPTION_KEY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19456"/>
            <a:ext cx="1143000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CF5FF"/>
                </a:solidFill>
              </a:defRPr>
            </a:pPr>
            <a:r>
              <a:t>Step 3 — Add Varlock reference in .env.schema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10972800" cy="534924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ECF5FF"/>
                </a:solidFill>
                <a:latin typeface="Consolas"/>
              </a:defRPr>
            </a:pPr>
            <a:r>
              <a:rPr sz="1600">
                <a:solidFill>
                  <a:srgbClr val="ECF5FF"/>
                </a:solidFill>
                <a:latin typeface="Consolas"/>
              </a:rPr>
              <a:t># Exact active mappings:</a:t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>ANTHROPIC_API_KEY=protonPass(pass://Login/ERA_ANTHROPIC_API_KEY/password)</a:t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>GEMINI_API_KEY=protonPass(pass://Login/ERA_GEMINI_API_KEY/password)</a:t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>OPENROUTER_API_KEY=protonPass(pass://Login/ERA_OPENROUTER_API_KEY/password)</a:t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>POSTGRES_PASSWORD=protonPass(pass://Login/ERA_SIM_POSTGRES_PASSWORD/password)</a:t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>BETTER_AUTH_SECRET=protonPass(pass://Login/ERA_SIM_BETTER_AUTH_SECRET/password)</a:t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>ENCRYPTION_KEY=protonPass(pass://Login/ERA_SIM_ENCRYPTION_KEY/password)</a:t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/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># Generic pattern:</a:t>
            </a:r>
          </a:p>
          <a:p>
            <a:pPr/>
            <a:r>
              <a:rPr sz="1600">
                <a:solidFill>
                  <a:srgbClr val="ECF5FF"/>
                </a:solidFill>
                <a:latin typeface="Consolas"/>
              </a:rPr>
              <a:t>SECRET_VAR=protonPass(pass://Login/&lt;ITEM_TITLE&gt;/password)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19456"/>
            <a:ext cx="1143000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CF5FF"/>
                </a:solidFill>
              </a:defRPr>
            </a:pPr>
            <a:r>
              <a:t>Step 4 — Validate end-to-end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57400"/>
            <a:ext cx="2148840" cy="192024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CF5FF"/>
                </a:solidFill>
              </a:defRPr>
            </a:pPr>
            <a:r>
              <a:t>Update item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51760" y="3017520"/>
            <a:ext cx="182879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34639" y="2057400"/>
            <a:ext cx="2148840" cy="1920240"/>
          </a:xfrm>
          <a:prstGeom prst="roundRect">
            <a:avLst/>
          </a:prstGeom>
          <a:solidFill>
            <a:srgbClr val="1C2844"/>
          </a:solidFill>
          <a:ln w="17145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CF5FF"/>
                </a:solidFill>
              </a:defRPr>
            </a:pPr>
            <a:r>
              <a:t>Update .env.schema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3017520"/>
            <a:ext cx="18288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66359" y="2057400"/>
            <a:ext cx="2148840" cy="192024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CF5FF"/>
                </a:solidFill>
              </a:defRPr>
            </a:pPr>
            <a:r>
              <a:t>varlock load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0" y="3017520"/>
            <a:ext cx="182879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98079" y="2057400"/>
            <a:ext cx="2148840" cy="1920240"/>
          </a:xfrm>
          <a:prstGeom prst="roundRect">
            <a:avLst/>
          </a:prstGeom>
          <a:solidFill>
            <a:srgbClr val="1C2844"/>
          </a:solidFill>
          <a:ln w="17145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CF5FF"/>
                </a:solidFill>
              </a:defRPr>
            </a:pPr>
            <a:r>
              <a:t>Service check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46919" y="3017520"/>
            <a:ext cx="182881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829800" y="2057400"/>
            <a:ext cx="2148840" cy="192024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ECF5FF"/>
                </a:solidFill>
              </a:defRPr>
            </a:pPr>
            <a:r>
              <a:t>Set rotation date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72800" cy="214884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FACC15"/>
                </a:solidFill>
              </a:defRPr>
            </a:pPr>
            <a:r>
              <a:t>Run these checks:</a:t>
            </a:r>
          </a:p>
          <a:p>
            <a:pPr>
              <a:defRPr sz="1700" b="0">
                <a:solidFill>
                  <a:srgbClr val="ECF5FF"/>
                </a:solidFill>
                <a:latin typeface="Consolas"/>
              </a:defRPr>
            </a:pPr>
            <a:r>
              <a:t>varlock load --path ~/.config/fabric</a:t>
            </a:r>
          </a:p>
          <a:p>
            <a:pPr>
              <a:defRPr sz="1700" b="0">
                <a:solidFill>
                  <a:srgbClr val="ECF5FF"/>
                </a:solidFill>
                <a:latin typeface="Consolas"/>
              </a:defRPr>
            </a:pPr>
            <a:r>
              <a:t>varlock load --path ~/.hermes</a:t>
            </a:r>
          </a:p>
          <a:p>
            <a:pPr>
              <a:defRPr sz="1700" b="0">
                <a:solidFill>
                  <a:srgbClr val="ECF5FF"/>
                </a:solidFill>
                <a:latin typeface="Consolas"/>
              </a:defRPr>
            </a:pPr>
            <a:r>
              <a:t>varlock load --path ~/git/cloned/reference/sim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1695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219456"/>
            <a:ext cx="11430000" cy="8412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CF5FF"/>
                </a:solidFill>
              </a:defRPr>
            </a:pPr>
            <a:r>
              <a:t>Copy/Paste Metadata Note Template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8001000" cy="5440680"/>
          </a:xfrm>
          <a:prstGeom prst="roundRect">
            <a:avLst/>
          </a:prstGeom>
          <a:solidFill>
            <a:srgbClr val="151F36"/>
          </a:solidFill>
          <a:ln w="17145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700">
                <a:solidFill>
                  <a:srgbClr val="ECF5FF"/>
                </a:solidFill>
                <a:latin typeface="Consolas"/>
              </a:defRPr>
            </a:pPr>
            <a:r>
              <a:t>owner: &lt;team-or-person&gt;</a:t>
            </a:r>
          </a:p>
          <a:p>
            <a:pPr>
              <a:defRPr sz="1700">
                <a:solidFill>
                  <a:srgbClr val="ECF5FF"/>
                </a:solidFill>
                <a:latin typeface="Consolas"/>
              </a:defRPr>
            </a:pPr>
            <a:r>
              <a:t>system: &lt;system-name&gt;</a:t>
            </a:r>
          </a:p>
          <a:p>
            <a:pPr>
              <a:defRPr sz="1700">
                <a:solidFill>
                  <a:srgbClr val="ECF5FF"/>
                </a:solidFill>
                <a:latin typeface="Consolas"/>
              </a:defRPr>
            </a:pPr>
            <a:r>
              <a:t>environment: &lt;dev|staging|prod|shared&gt;</a:t>
            </a:r>
          </a:p>
          <a:p>
            <a:pPr>
              <a:defRPr sz="1700">
                <a:solidFill>
                  <a:srgbClr val="ECF5FF"/>
                </a:solidFill>
                <a:latin typeface="Consolas"/>
              </a:defRPr>
            </a:pPr>
            <a:r>
              <a:t>secret_type: &lt;api_key|db_password|token|jwt_secret|encryption_key&gt;</a:t>
            </a:r>
          </a:p>
          <a:p>
            <a:pPr>
              <a:defRPr sz="1700">
                <a:solidFill>
                  <a:srgbClr val="ECF5FF"/>
                </a:solidFill>
                <a:latin typeface="Consolas"/>
              </a:defRPr>
            </a:pPr>
            <a:r>
              <a:t>rotation_url: &lt;provider-rotation-url&gt;</a:t>
            </a:r>
          </a:p>
          <a:p>
            <a:pPr>
              <a:defRPr sz="1700">
                <a:solidFill>
                  <a:srgbClr val="ECF5FF"/>
                </a:solidFill>
                <a:latin typeface="Consolas"/>
              </a:defRPr>
            </a:pPr>
            <a:r>
              <a:t>created_at: &lt;YYYY-MM-DD&gt;</a:t>
            </a:r>
          </a:p>
          <a:p>
            <a:pPr>
              <a:defRPr sz="1700">
                <a:solidFill>
                  <a:srgbClr val="ECF5FF"/>
                </a:solidFill>
                <a:latin typeface="Consolas"/>
              </a:defRPr>
            </a:pPr>
            <a:r>
              <a:t>last_rotated_at: &lt;YYYY-MM-DD&gt;</a:t>
            </a:r>
          </a:p>
          <a:p>
            <a:pPr>
              <a:defRPr sz="1700">
                <a:solidFill>
                  <a:srgbClr val="ECF5FF"/>
                </a:solidFill>
                <a:latin typeface="Consolas"/>
              </a:defRPr>
            </a:pPr>
            <a:r>
              <a:t>next_rotation_due: &lt;YYYY-MM-DD&gt;</a:t>
            </a:r>
          </a:p>
          <a:p>
            <a:pPr>
              <a:defRPr sz="1700">
                <a:solidFill>
                  <a:srgbClr val="ECF5FF"/>
                </a:solidFill>
                <a:latin typeface="Consolas"/>
              </a:defRPr>
            </a:pPr>
            <a:r>
              <a:t>incident_rotation_required: &lt;true|false&gt;</a:t>
            </a:r>
          </a:p>
          <a:p>
            <a:pPr>
              <a:defRPr sz="1700">
                <a:solidFill>
                  <a:srgbClr val="ECF5FF"/>
                </a:solidFill>
                <a:latin typeface="Consolas"/>
              </a:defRPr>
            </a:pPr>
            <a:r>
              <a:t>notes: &lt;free-text&gt;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1325880"/>
            <a:ext cx="2971800" cy="5440680"/>
          </a:xfrm>
          <a:prstGeom prst="roundRect">
            <a:avLst/>
          </a:prstGeom>
          <a:solidFill>
            <a:srgbClr val="1C2844"/>
          </a:solidFill>
          <a:ln w="17145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4ADE80"/>
                </a:solidFill>
              </a:defRPr>
            </a:pPr>
            <a:r>
              <a:t>Before save: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✓ owner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✓ system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✓ rotation_url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✓ dates</a:t>
            </a:r>
          </a:p>
          <a:p>
            <a:pPr>
              <a:defRPr sz="1700" b="0">
                <a:solidFill>
                  <a:srgbClr val="ECF5FF"/>
                </a:solidFill>
              </a:defRPr>
            </a:pPr>
            <a:r>
              <a:t>✓ notes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